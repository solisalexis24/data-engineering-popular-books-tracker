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MISAMO inc.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 Books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B8CC"/>
                </a:solidFill>
              </a:rPr>
              <a:t>Data Lake Implementation for Tracking Popular Books &amp; Genres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8CC"/>
                </a:solidFill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Bookseller's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Purchasing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Blind Inventory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Purchasing teams operate without objective, real-time data on what readers actually want.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92024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Quarterly vs. Weekly Reality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Publisher catalogs update quarterly — but market demand shifts every week.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Profitability at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Overstocking low-demand titles directly erodes margins and ties up capital.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329184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Missed Opportunities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Emerging genres go undetected without systematic visibility into reading trends.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THE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Goodreads: 150M Users.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Data. Updated Weekly.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64008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books × 52 weeks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4F8"/>
                </a:solidFill>
              </a:rPr>
              <a:t>= a continuous, real-time signal of market demand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Top 50 most-read books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Published weekly by the Goodreads community — reflecting real reader behavior, not just advertising.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950208"/>
            <a:ext cx="8229600" cy="0"/>
          </a:xfrm>
          <a:prstGeom prst="line">
            <a:avLst/>
          </a:prstGeom>
          <a:noFill/>
          <a:ln w="635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Reviews &amp; ratings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Reader sentiment data that reveals why books resonate, not just which ones sell.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453128"/>
            <a:ext cx="8229600" cy="0"/>
          </a:xfrm>
          <a:prstGeom prst="line">
            <a:avLst/>
          </a:prstGeom>
          <a:noFill/>
          <a:ln w="635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Untapped 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4526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This publicly available data is not currently being systematically leveraged by most booksellers.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956048"/>
            <a:ext cx="8229600" cy="0"/>
          </a:xfrm>
          <a:prstGeom prst="line">
            <a:avLst/>
          </a:prstGeom>
          <a:noFill/>
          <a:ln w="6350">
            <a:solidFill>
              <a:srgbClr val="1C7293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 Books Tracker: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Automated Data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114800" cy="1234440"/>
          </a:xfrm>
          <a:prstGeom prst="rect">
            <a:avLst/>
          </a:prstGeom>
          <a:solidFill>
            <a:srgbClr val="11284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011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Automated Extraction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Weekly scraping of Goodreads Top 50 — no manual intervention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920240"/>
            <a:ext cx="4114800" cy="1234440"/>
          </a:xfrm>
          <a:prstGeom prst="rect">
            <a:avLst/>
          </a:prstGeom>
          <a:solidFill>
            <a:srgbClr val="11284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3560" y="2011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Enrichment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3560" y="2377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Generative AI (Amazon Bedrock) creates Spanish-language summaries of reviews.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4114800" cy="1234440"/>
          </a:xfrm>
          <a:prstGeom prst="rect">
            <a:avLst/>
          </a:prstGeom>
          <a:solidFill>
            <a:srgbClr val="11284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29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Actionable Ranking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Identifies Top 10 books and Top 20 genres with sustained demand over 5 weeks.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337560"/>
            <a:ext cx="4114800" cy="1234440"/>
          </a:xfrm>
          <a:prstGeom prst="rect">
            <a:avLst/>
          </a:prstGeom>
          <a:solidFill>
            <a:srgbClr val="11284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429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3429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BI-Ready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3794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Results delivered directly to Tableau, Power BI — ready every Monday morning.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Medallion Architecture on AWS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115568" cy="822960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63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Goodreads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847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Source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89888" y="178308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371600"/>
            <a:ext cx="1115568" cy="822960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463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Lambda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1847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Extraction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70048" y="178308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371600"/>
            <a:ext cx="1115568" cy="822960"/>
          </a:xfrm>
          <a:prstGeom prst="rect">
            <a:avLst/>
          </a:prstGeom>
          <a:solidFill>
            <a:srgbClr val="B4530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463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S3 Bronze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1847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Raw JSON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50208" y="178308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371600"/>
            <a:ext cx="1115568" cy="822960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463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Glue + Bedrock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1847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AI Enrichment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30368" y="178308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371600"/>
            <a:ext cx="1115568" cy="822960"/>
          </a:xfrm>
          <a:prstGeom prst="rect">
            <a:avLst/>
          </a:prstGeom>
          <a:solidFill>
            <a:srgbClr val="0478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463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S3 Silver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0" y="1847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Curated Parquet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10528" y="178308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371600"/>
            <a:ext cx="1115568" cy="822960"/>
          </a:xfrm>
          <a:prstGeom prst="rect">
            <a:avLst/>
          </a:prstGeom>
          <a:solidFill>
            <a:srgbClr val="B4530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463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RDS Gold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1847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Top 10 / 20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90688" y="178308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1371600"/>
            <a:ext cx="1115568" cy="822960"/>
          </a:xfrm>
          <a:prstGeom prst="rect">
            <a:avLst/>
          </a:prstGeom>
          <a:solidFill>
            <a:srgbClr val="02C3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1463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/ Power BI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1847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Dashboard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926080" y="2423160"/>
            <a:ext cx="329184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</a:rPr>
              <a:t>⚡  EventBridge → Step Functions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</a:rPr>
              <a:t>Automated every Sunday at 18:00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200400"/>
            <a:ext cx="2743200" cy="1645920"/>
          </a:xfrm>
          <a:prstGeom prst="rect">
            <a:avLst/>
          </a:prstGeom>
          <a:solidFill>
            <a:srgbClr val="0D213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200400"/>
            <a:ext cx="27432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218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BRONZE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363931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Raw HTML→JSON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Source of truth, never modified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55848" y="3200400"/>
            <a:ext cx="2743200" cy="1645920"/>
          </a:xfrm>
          <a:prstGeom prst="rect">
            <a:avLst/>
          </a:prstGeom>
          <a:solidFill>
            <a:srgbClr val="0D2137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55848" y="3200400"/>
            <a:ext cx="274320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3218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SILVER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65576" y="363931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Cleaned, deduplicated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Parquet + AI summaries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54496" y="3200400"/>
            <a:ext cx="2743200" cy="1645920"/>
          </a:xfrm>
          <a:prstGeom prst="rect">
            <a:avLst/>
          </a:prstGeom>
          <a:solidFill>
            <a:srgbClr val="0D213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54496" y="320040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3218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GOLD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64224" y="363931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Aggregated Top 10 Books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&amp; Top 20 Genres in 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Stack — 100% Serverless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6576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7432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Lambda (Python)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servers · pay-per-use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Glue (PySpark)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Auto-scaling ETL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Nova 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 summaries · low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 (Parquet)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Economical · analytics-optimized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 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BI-compatible · SQL queries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Step 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flow with retries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EventBridge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weekly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AI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Business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 ·  Raw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Genres: </a:t>
            </a:r>
            <a:pPr indent="0" marL="0">
              <a:buNone/>
            </a:pPr>
            <a:r>
              <a:rPr lang="en-US" sz="1000" dirty="0">
                <a:solidFill>
                  <a:srgbClr val="9BB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["Romance", "Fiction", "Contemporary"]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Reviews:
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"Amazing book! Couldn't put it down..." (142 likes)
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beautiful love story..." (89 likes)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3017520"/>
            <a:ext cx="2743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11284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AFTER  ·  AI-Enriched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Description:
</a:t>
            </a:r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"A captivating contemporary love story that wins the heart with deeply human characters."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Sentiment:
</a:t>
            </a:r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"Readers highlight an emotional and irresistible narrative that generates high engagement."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</a:rPr>
              <a:t>🎯  The buyer understands any book in seconds, in their language.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BUSINESS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Operational Impact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6576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200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Popular Books 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Intuition + quarterly catalogs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weekly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of manual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results every Monday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subjective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150M Goodreads readers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(raw 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 (AI-generated summaries)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Person-hours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$22/month in AWS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~$22/Month for Weekly Market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286000" cy="3566160"/>
          </a:xfrm>
          <a:prstGeom prst="rect">
            <a:avLst/>
          </a:prstGeom>
          <a:solidFill>
            <a:srgbClr val="065A82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per month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(estimated)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234440"/>
          <a:ext cx="5760720" cy="3566160"/>
        </p:xfrm>
        <a:graphic>
          <a:graphicData uri="http://schemas.openxmlformats.org/drawingml/2006/table">
            <a:tbl>
              <a:tblPr/>
              <a:tblGrid>
                <a:gridCol w="2560320"/>
                <a:gridCol w="192024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Lambda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invocations × 3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Glue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jobs × 2 DPU × 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Nova 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books × 2 AI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GB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 (t3.micro)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 hours/month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Functions / EventBridge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B8CC"/>
                </a:solidFill>
              </a:rPr>
              <a:t>* RDS can be paused off-hours to further reduce costs. Pricing approximate for current volume.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3474720"/>
          </a:xfrm>
          <a:prstGeom prst="rect">
            <a:avLst/>
          </a:prstGeom>
          <a:solidFill>
            <a:srgbClr val="0D213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44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628"/>
                </a:solidFill>
              </a:rPr>
              <a:t>Phase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Security &amp; Ops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" y="187452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Migrate credentials to AWS Secrets Manager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283464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072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Enable S3 encryption at rest (SSE-KMS)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" y="379476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673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CloudWatch alarms + SNS notifications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1325880"/>
            <a:ext cx="2743200" cy="3474720"/>
          </a:xfrm>
          <a:prstGeom prst="rect">
            <a:avLst/>
          </a:prstGeom>
          <a:solidFill>
            <a:srgbClr val="0D213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32588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344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628"/>
                </a:solidFill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15361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Data Enrichment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187452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3048" y="18470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Add sources: Amazon Best Sellers, NYT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28346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28072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Historical trend analysis (52+ weeks)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37947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3048" y="37673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Segmentation by market or region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1325880"/>
            <a:ext cx="2743200" cy="3474720"/>
          </a:xfrm>
          <a:prstGeom prst="rect">
            <a:avLst/>
          </a:prstGeom>
          <a:solidFill>
            <a:srgbClr val="0D213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325880"/>
            <a:ext cx="27432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344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628"/>
                </a:solidFill>
              </a:rPr>
              <a:t>Phase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15361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Integration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19088" y="18745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696" y="18470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Direct ERP / POS system connection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19088" y="28346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11696" y="28072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Dedicated Tableau dashboard with alerts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19088" y="37947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1696" y="37673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REST API for programmatic queries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✅  Currently in production — phases 2–4 ready for prioritization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</a:rPr>
              <a:t>Connect your BI tool to the Gold data and start making decisions based on real trends.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 Books Tracker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that creates value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9568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Full Automation —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From Goodreads to executive dashboard with zero manual intervention.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AI Applied to Business —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Spanish summaries that accelerate purchasing decisions.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Low Cost —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~$22/month for weekly market intelligence — serverless pay-per-use.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19568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Scalable —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AWS serverless architecture that grows with business volume.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273405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Live Today —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C"/>
                </a:solidFill>
              </a:rPr>
              <a:t>System fully deployed and running in production.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Popular Books Tracker — MISAMO inc.</dc:title>
  <dc:subject>PptxGenJS Presentation</dc:subject>
  <dc:creator>PptxGenJS</dc:creator>
  <cp:lastModifiedBy>PptxGenJS</cp:lastModifiedBy>
  <cp:revision>1</cp:revision>
  <dcterms:created xsi:type="dcterms:W3CDTF">2026-05-25T07:25:16Z</dcterms:created>
  <dcterms:modified xsi:type="dcterms:W3CDTF">2026-05-25T07:25:16Z</dcterms:modified>
</cp:coreProperties>
</file>